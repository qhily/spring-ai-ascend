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a88489f2da474f" /><Relationship Type="http://schemas.openxmlformats.org/officeDocument/2006/relationships/extended-properties" Target="/docProps/app.xml" Id="R44e12cf7bfcd40a4" /><Relationship Type="http://schemas.openxmlformats.org/officeDocument/2006/relationships/officeDocument" Target="/ppt/presentation.xml" Id="Rc588bbf9e15148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1ceae3451649aa"/>
  </p:sldMasterIdLst>
  <p:notesMasterIdLst>
    <p:notesMasterId xmlns:r="http://schemas.openxmlformats.org/officeDocument/2006/relationships" r:id="R48f1576b1dd84bc2"/>
  </p:notesMasterIdLst>
  <p:sldIdLst>
    <p:sldId xmlns:r="http://schemas.openxmlformats.org/officeDocument/2006/relationships" id="256" r:id="R14a13c66e3534d49"/>
    <p:sldId xmlns:r="http://schemas.openxmlformats.org/officeDocument/2006/relationships" id="257" r:id="Rfd596d52f0234aad"/>
    <p:sldId xmlns:r="http://schemas.openxmlformats.org/officeDocument/2006/relationships" id="258" r:id="R4040f1c80e904472"/>
    <p:sldId xmlns:r="http://schemas.openxmlformats.org/officeDocument/2006/relationships" id="259" r:id="R1470e48854354a0b"/>
    <p:sldId xmlns:r="http://schemas.openxmlformats.org/officeDocument/2006/relationships" id="260" r:id="R31d6826b040d48d2"/>
    <p:sldId xmlns:r="http://schemas.openxmlformats.org/officeDocument/2006/relationships" id="261" r:id="R71e1e14d566b4316"/>
    <p:sldId xmlns:r="http://schemas.openxmlformats.org/officeDocument/2006/relationships" id="262" r:id="Re01149d223c84a4e"/>
    <p:sldId xmlns:r="http://schemas.openxmlformats.org/officeDocument/2006/relationships" id="263" r:id="Reebab5523b3a4ba9"/>
    <p:sldId xmlns:r="http://schemas.openxmlformats.org/officeDocument/2006/relationships" id="264" r:id="Ra58bb8bddfb84f28"/>
    <p:sldId xmlns:r="http://schemas.openxmlformats.org/officeDocument/2006/relationships" id="265" r:id="Rf67e990ed8d14487"/>
    <p:sldId xmlns:r="http://schemas.openxmlformats.org/officeDocument/2006/relationships" id="266" r:id="R561bc808435842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de74963030453a" /><Relationship Type="http://schemas.openxmlformats.org/officeDocument/2006/relationships/slideMaster" Target="/ppt/slideMasters/slideMaster1.xml" Id="R031ceae3451649aa" /><Relationship Type="http://schemas.openxmlformats.org/officeDocument/2006/relationships/notesMaster" Target="/ppt/notesMasters/notesMaster1.xml" Id="R48f1576b1dd84bc2" /><Relationship Type="http://schemas.openxmlformats.org/officeDocument/2006/relationships/presProps" Target="/ppt/presProps.xml" Id="R8523837ae9b04462" /><Relationship Type="http://schemas.openxmlformats.org/officeDocument/2006/relationships/viewProps" Target="/ppt/viewProps.xml" Id="R4f1996fac90e4578" /><Relationship Type="http://schemas.openxmlformats.org/officeDocument/2006/relationships/tableStyles" Target="/ppt/tableStyles.xml" Id="Re43b88ab2c9349f0" /><Relationship Type="http://schemas.openxmlformats.org/officeDocument/2006/relationships/slide" Target="/ppt/slides/slide1.xml" Id="R14a13c66e3534d49" /><Relationship Type="http://schemas.openxmlformats.org/officeDocument/2006/relationships/slide" Target="/ppt/slides/slide2.xml" Id="Rfd596d52f0234aad" /><Relationship Type="http://schemas.openxmlformats.org/officeDocument/2006/relationships/slide" Target="/ppt/slides/slide3.xml" Id="R4040f1c80e904472" /><Relationship Type="http://schemas.openxmlformats.org/officeDocument/2006/relationships/slide" Target="/ppt/slides/slide4.xml" Id="R1470e48854354a0b" /><Relationship Type="http://schemas.openxmlformats.org/officeDocument/2006/relationships/slide" Target="/ppt/slides/slide5.xml" Id="R31d6826b040d48d2" /><Relationship Type="http://schemas.openxmlformats.org/officeDocument/2006/relationships/slide" Target="/ppt/slides/slide6.xml" Id="R71e1e14d566b4316" /><Relationship Type="http://schemas.openxmlformats.org/officeDocument/2006/relationships/slide" Target="/ppt/slides/slide7.xml" Id="Re01149d223c84a4e" /><Relationship Type="http://schemas.openxmlformats.org/officeDocument/2006/relationships/slide" Target="/ppt/slides/slide8.xml" Id="Reebab5523b3a4ba9" /><Relationship Type="http://schemas.openxmlformats.org/officeDocument/2006/relationships/slide" Target="/ppt/slides/slide9.xml" Id="Ra58bb8bddfb84f28" /><Relationship Type="http://schemas.openxmlformats.org/officeDocument/2006/relationships/slide" Target="/ppt/slides/slide10.xml" Id="Rf67e990ed8d14487" /><Relationship Type="http://schemas.openxmlformats.org/officeDocument/2006/relationships/slide" Target="/ppt/slides/slide11.xml" Id="R561bc808435842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51c71d34e54c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77b411562a42fc" /><Relationship Type="http://schemas.openxmlformats.org/officeDocument/2006/relationships/notesMaster" Target="/ppt/notesMasters/notesMaster1.xml" Id="R49898a117cbb48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c5f177e8034084" /><Relationship Type="http://schemas.openxmlformats.org/officeDocument/2006/relationships/notesMaster" Target="/ppt/notesMasters/notesMaster1.xml" Id="R1d3b3d7c7e714e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e54b18ba9e4c32" /><Relationship Type="http://schemas.openxmlformats.org/officeDocument/2006/relationships/notesMaster" Target="/ppt/notesMasters/notesMaster1.xml" Id="R5c7185ca08484b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656b99e9d94b38" /><Relationship Type="http://schemas.openxmlformats.org/officeDocument/2006/relationships/notesMaster" Target="/ppt/notesMasters/notesMaster1.xml" Id="R67013f8243dd49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56239ebeaa4a60" /><Relationship Type="http://schemas.openxmlformats.org/officeDocument/2006/relationships/notesMaster" Target="/ppt/notesMasters/notesMaster1.xml" Id="R98be6e5619154b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785f3ba4bf45a4" /><Relationship Type="http://schemas.openxmlformats.org/officeDocument/2006/relationships/notesMaster" Target="/ppt/notesMasters/notesMaster1.xml" Id="R96464a9957fa4f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75a7ac42524b1d" /><Relationship Type="http://schemas.openxmlformats.org/officeDocument/2006/relationships/notesMaster" Target="/ppt/notesMasters/notesMaster1.xml" Id="Rf49c9cba005f42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eddeb91ad441dc" /><Relationship Type="http://schemas.openxmlformats.org/officeDocument/2006/relationships/notesMaster" Target="/ppt/notesMasters/notesMaster1.xml" Id="Red3e3c1c42b543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9ce9d563cb426a" /><Relationship Type="http://schemas.openxmlformats.org/officeDocument/2006/relationships/notesMaster" Target="/ppt/notesMasters/notesMaster1.xml" Id="R4f62c3bba5e341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c3fc22434d4a7e" /><Relationship Type="http://schemas.openxmlformats.org/officeDocument/2006/relationships/notesMaster" Target="/ppt/notesMasters/notesMaster1.xml" Id="Rc66ae4e459184d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51724a548248bc" /><Relationship Type="http://schemas.openxmlformats.org/officeDocument/2006/relationships/notesMaster" Target="/ppt/notesMasters/notesMaster1.xml" Id="R543fdeabd49148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29ca5154547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355d8cf9194643" /><Relationship Type="http://schemas.openxmlformats.org/officeDocument/2006/relationships/slideLayout" Target="/ppt/slideLayouts/slideLayout1.xml" Id="Rb5e987ae943f4e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e987ae943f4e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6ccd3dcba4d89" /><Relationship Type="http://schemas.openxmlformats.org/officeDocument/2006/relationships/notesSlide" Target="/ppt/notesSlides/notesSlide1.xml" Id="Rdfceea033bbc4b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fac26c2d54d50" /><Relationship Type="http://schemas.openxmlformats.org/officeDocument/2006/relationships/notesSlide" Target="/ppt/notesSlides/notesSlide2.xml" Id="R495f8be3dc874c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0d75ae1654c90" /><Relationship Type="http://schemas.openxmlformats.org/officeDocument/2006/relationships/notesSlide" Target="/ppt/notesSlides/notesSlide3.xml" Id="R5c39122a4e3649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89cc833be4155" /><Relationship Type="http://schemas.openxmlformats.org/officeDocument/2006/relationships/notesSlide" Target="/ppt/notesSlides/notesSlide4.xml" Id="Rb580d9bcc53044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01800e3c1432a" /><Relationship Type="http://schemas.openxmlformats.org/officeDocument/2006/relationships/notesSlide" Target="/ppt/notesSlides/notesSlide5.xml" Id="R1a95f847c5c942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4b1f6b02c4b03" /><Relationship Type="http://schemas.openxmlformats.org/officeDocument/2006/relationships/notesSlide" Target="/ppt/notesSlides/notesSlide6.xml" Id="Ra8cb1f87c1554f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9b633c5884def" /><Relationship Type="http://schemas.openxmlformats.org/officeDocument/2006/relationships/notesSlide" Target="/ppt/notesSlides/notesSlide7.xml" Id="Rf0a25ee992604e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c760f88b64a60" /><Relationship Type="http://schemas.openxmlformats.org/officeDocument/2006/relationships/notesSlide" Target="/ppt/notesSlides/notesSlide8.xml" Id="R1f05ee32c4774f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44acc980c40f2" /><Relationship Type="http://schemas.openxmlformats.org/officeDocument/2006/relationships/notesSlide" Target="/ppt/notesSlides/notesSlide9.xml" Id="R783aa889a00849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4c2d17d984eb7" /><Relationship Type="http://schemas.openxmlformats.org/officeDocument/2006/relationships/notesSlide" Target="/ppt/notesSlides/notesSlide10.xml" Id="Rbd304d94f45f4a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a4be88f9e4762" /><Relationship Type="http://schemas.openxmlformats.org/officeDocument/2006/relationships/notesSlide" Target="/ppt/notesSlides/notesSlide11.xml" Id="R57279854f54c42f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CCF18B-BCA7-4CCC-B2C5-D0B4622B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3A61A-0F72-47D6-8869-6A15A341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F68D5-490A-4483-A629-A4D2DA1A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A2D 人机协作流程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C677D-209A-4A6D-91BF-F1965D16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EF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D7DEF0"/>
                </a:solidFill>
                <a:latin typeface="Microsoft YaHei UI"/>
                <a:ea typeface="Microsoft YaHei UI"/>
                <a:cs typeface="Microsoft YaHei UI"/>
              </a:rPr>
              <a:t>从架构信封到自动化交付：让 AI 快速推进，但被清晰约束。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1A9D1-24CE-4BB0-AE86-D6B10F0A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3524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049"/>
          </a:solidFill>
          <a:ln xmlns:a="http://schemas.openxmlformats.org/drawingml/2006/main" w="9525">
            <a:solidFill>
              <a:srgbClr val="46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676EF-1AC0-4947-A78A-7AD76BF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525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FB6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9FB6FF"/>
                </a:solidFill>
                <a:latin typeface="Microsoft YaHei UI"/>
                <a:ea typeface="Microsoft YaHei UI"/>
                <a:cs typeface="Microsoft YaHei UI"/>
              </a:rPr>
              <a:t>核心变化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EC7D8-98E4-44B6-B629-26510DA5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288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4B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0B4B4"/>
                </a:solidFill>
                <a:latin typeface="Microsoft YaHei UI"/>
                <a:ea typeface="Microsoft YaHei UI"/>
                <a:cs typeface="Microsoft YaHei UI"/>
              </a:rPr>
              <a:t>过去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88D68-85E4-4F05-8026-ED0F9960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试图一次性写完架构稿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C6707-8EDF-42F3-B203-292DAD20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1238"/>
            <a:ext cx="271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6AACD-7264-4A4B-B54F-C99CD1C3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E3C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A6E3C5"/>
                </a:solidFill>
                <a:latin typeface="Microsoft YaHei UI"/>
                <a:ea typeface="Microsoft YaHei UI"/>
                <a:cs typeface="Microsoft YaHei UI"/>
              </a:rPr>
              <a:t>现在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6BF8B-65D3-4E9E-B2CD-EACFAB31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先定义信封，再用代码与 harness 收敛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945EC-4210-42FA-86B9-941FF75D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28938"/>
            <a:ext cx="271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6DFB3-E8CB-48CD-93C0-0D597398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242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E3C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A6E3C5"/>
                </a:solidFill>
                <a:latin typeface="Microsoft YaHei UI"/>
                <a:ea typeface="Microsoft YaHei UI"/>
                <a:cs typeface="Microsoft YaHei UI"/>
              </a:rPr>
              <a:t>关键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3F02B-67B5-4950-B2FF-F98CD110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文档表达意图，法律层负责约束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76414-E420-4912-8337-E191DF6F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76638"/>
            <a:ext cx="271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D8F9D-BDB4-4A83-971D-B638C747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71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E3C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A6E3C5"/>
                </a:solidFill>
                <a:latin typeface="Microsoft YaHei UI"/>
                <a:ea typeface="Microsoft YaHei UI"/>
                <a:cs typeface="Microsoft YaHei UI"/>
              </a:rPr>
              <a:t>节奏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0B409-27F7-466D-BFBD-CF8347F8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528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H0/H1/H2/H3 人类集中介入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70AE7-599F-42AA-B4BA-DBFEAB61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2C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AAB2C2"/>
                </a:solidFill>
                <a:latin typeface="Microsoft YaHei UI"/>
                <a:ea typeface="Microsoft YaHei UI"/>
                <a:cs typeface="Microsoft YaHei UI"/>
              </a:rPr>
              <a:t>v0.1 / governance draft summary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12290-2ED4-4B23-B9E2-C1150186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115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2C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AAB2C2"/>
                </a:solidFill>
                <a:latin typeface="Microsoft YaHei UI"/>
                <a:ea typeface="Microsoft YaHei UI"/>
                <a:cs typeface="Microsoft YaHei UI"/>
              </a:rPr>
              <a:t>01/11</a:t>
            </a:r>
          </a:p>
        </p:txBody>
      </p:sp>
    </p:spTree>
    <p:extLst>
      <p:ext uri="{BB962C8B-B14F-4D97-AF65-F5344CB8AC3E}">
        <p14:creationId xmlns:p14="http://schemas.microsoft.com/office/powerpoint/2010/main" val="6376612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BFFAD9-3C7B-4C1D-A256-C0811AA4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29B3373-9317-4C88-A01E-0946D51F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F56339C4-31A7-404A-84E5-D9B5EAE5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流程判断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A9128-D80E-4B04-92EB-BB76EE17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80EFA-82C9-49F9-B867-8222340A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真正的瓶颈，不再是“写代码”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D54B0-2B9A-469A-8967-470C77A0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瓶颈转向人类对边界、风险、验证证据和实现反馈的吸收能力。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2F560-7DA9-4CF1-8C9E-558CCAC0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E2C9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7A9E4-496D-401B-AB4D-3AE2B41D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rPr>
              <a:t>旧流程倾向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F8E54-B8E2-48EC-864B-D567F06E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2915B-8D28-4236-B7CE-9ED6C175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3495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让模型继续完善架构稿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835FD-5D1E-498E-B6C0-AF1AC4D8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E1597-E2A1-4DFB-A1DA-9DD0455D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3495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文档越写越厚，但约束不一定变强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169DD-637D-45F9-A69D-E792C04D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B81F8-7E29-45AB-B5FA-C830427A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3495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编码阶段才暴露边界和契约冲突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A93EC-1A0E-4394-9769-FCBAA46B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F"/>
          </a:solidFill>
          <a:ln xmlns:a="http://schemas.openxmlformats.org/drawingml/2006/main" w="9525">
            <a:solidFill>
              <a:srgbClr val="B8C8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E462D-CE3D-4E94-95DE-AEE7F8B1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47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新流程要求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25020-D9F0-4E51-AE7A-C9115E5B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32B6C4-034F-474B-9A46-43113A5A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3495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先给出可执行架构信封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E88D5-1334-4D3F-8E5A-BA9A89BC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F0190-A7BB-4E9C-8025-F79EA805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43300"/>
            <a:ext cx="3495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尽早写代码骨架、harness 或 probe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97FAE9-718B-46C5-BBD2-5D13F6C7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67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001A9-1418-4975-9EEA-1DF7B379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81450"/>
            <a:ext cx="3495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发现新事实后结构化回灌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3DE94-1A83-44E0-9DEB-FC823C24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57588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EFF44-3CD9-4AED-BE7A-EAFE221B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813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4F4B0C-8B04-466E-852E-E38CD4E5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578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从“补完蓝图”转为“构造约束 + 小步实证”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0AA0D-3B2F-4751-A299-A125331E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40BDC0-BA8C-46AB-AF5C-03FF4B37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A2D 人机协作流程 / spring-ai-ascend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28BCAA-42DA-48D5-B974-53B9E106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389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1703722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EDCA49-ACE0-480A-9653-EFA45FE2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7984A58C-D2E5-4FFB-BA92-3609AEB3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F2C476EC-4A9C-42D0-B90F-5BD5137A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两层约束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65E37-244E-4374-AC51-2C970F54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86BAE-BD9E-40DC-ABD2-09BB9547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人负责裁决边界，AI 负责在边界内推进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8635E-2044-4D65-A24B-EAAA6B75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架构协作层高人类参与；自动化交付层用工具和测试降低逐条审批成本。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29722-CE19-47BB-8F01-3F2B063A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4762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B9C9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DDB9F-D310-410F-AF4C-B450A65F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架构协作层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3E306-69DB-4838-A80C-B9B1120E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人类高密度介入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3FC6A-B060-4047-926A-FFD6570F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67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0211C-6B3C-4FDF-957D-84D61828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81350"/>
            <a:ext cx="3733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确认目标 / 非目标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A6E90-883B-429B-B39E-556A6547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2898F-2FEC-41EA-8879-A6119715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3733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确认模块边界与状态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D3ACA-4A68-4FFB-AC0F-2C97295E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79120-40AE-4372-8F12-C406AAA8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3733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确认跨模块契约和禁止范围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04EF7-2970-41C3-AF99-C84FC765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5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BC0F0-E905-4497-80FA-7F444598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3733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确认第一批代码 / harness 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AF0CE-B5AF-4E3D-90CA-4EE902D6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24100"/>
            <a:ext cx="4762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BF7"/>
          </a:solidFill>
          <a:ln xmlns:a="http://schemas.openxmlformats.org/drawingml/2006/main" w="9525">
            <a:solidFill>
              <a:srgbClr val="B5DF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F06AB-A203-4317-AE3D-ABF22276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908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rPr>
              <a:t>自动化交付层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03C73-B5C1-4B34-8FDF-9B12EFCB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rPr>
              <a:t>AI 批量推进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72607-0944-4FF2-8CC7-8C978835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67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65917-590E-449C-8B2A-A00126BC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81350"/>
            <a:ext cx="3733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代码骨架、schema、stub/mock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417DC-353A-4BD5-B537-131B76AB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D2808-91FB-4220-AA05-7EF4E9F7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43300"/>
            <a:ext cx="3733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contract test、wire-level probe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2F612A-14FF-49B3-B09F-490E548C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90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A3AA9-7BB9-4700-A424-69F620D9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05250"/>
            <a:ext cx="3733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实现、验证、漂移检查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8C789B-B732-4EA2-A25D-CB76D5E1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5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5368F1-02D9-424F-9834-FEA011F8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67200"/>
            <a:ext cx="3733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把实现发现的问题回灌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132E7C-C2EE-4620-9CD7-278AB880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71888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54A8DE-07DA-46F3-8B45-4E91E479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956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EA14A1-9A35-4512-83F8-0F287AFA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81625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H1/H2 是闸门，不是逐任务审批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55115-ED3E-4C31-BEE4-485B84BE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FA8A52-93BC-4C52-BECF-21319A4C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A2D 人机协作流程 / spring-ai-ascend governance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28438E-2AB3-40AF-9488-439769FF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389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2013695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2B06A7-9721-4B0B-B677-A4252716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E378B433-FE67-4C78-89E2-21A7BA33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F6FEE679-2C02-455C-AE8C-988E3EFA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三层事实模型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C13F7-7F76-4734-84A3-608BC216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F8E8A-A3AA-497E-AC16-F87081D9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文档表达意图，法律层才真正限制模型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3E3A4-E25B-4B3A-9859-466AAE50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事实层负责投影现状，不能反向创造架构语义。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9A8DE-CD64-43AC-8300-1729549D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28850"/>
            <a:ext cx="8991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492F9-4617-4447-B3AC-65EDAA7C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2887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意图层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8A3A4-EB20-45CF-916A-1F50B524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90775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8AAE6-EAEA-46D2-8B41-E753D439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622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架构信封 / ADR / 评审包 / L1-L2 文档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5BCC1-0DC5-44F9-B68D-E569A65B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574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说明人类想要什么、允许什么、禁止什么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CBC42-FBE8-4519-9A78-0BD452C8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479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人类确认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B4790-7A31-4369-8AC8-CAC13CEF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8991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9525">
            <a:solidFill>
              <a:srgbClr val="C43B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6DB68-9871-4418-8A6F-5A0BFAB3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9567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rPr>
              <a:t>法律层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4362A-540D-4158-AAC6-B6BC27B8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457575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36AAE-5C98-407D-9154-047927B5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CI gate / ArchUnit / contract test / wire probe / drift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831BB-0E61-4AA3-AC10-285BCD31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24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每次提交自动判定是否越界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69DE2B-A99B-4948-89DB-9B10102C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147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rPr>
              <a:t>机器兜底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DAF82-DF5F-4825-A3A0-73B19D3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62450"/>
            <a:ext cx="8991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A"/>
          </a:solidFill>
          <a:ln xmlns:a="http://schemas.openxmlformats.org/drawingml/2006/main" w="9525">
            <a:solidFill>
              <a:srgbClr val="0F8A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32E11-8819-4D44-A7C7-5553F825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6247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rPr>
              <a:t>事实层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D2C8D-0711-49EC-880E-C32713B3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24375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61AEB-43F5-4446-B010-DFD6ACA6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958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graphify / OpenAPI / schema projection / 代码扫描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2E07D-9500-4B51-AACF-A7CF2861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910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从代码或契约生成现状投影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E2F4CC-A383-481E-91D3-501359CF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815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rPr>
              <a:t>自动投影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82B68-C966-4C98-80EB-EF87482C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48325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默认拒绝：未列入 allowed / writable / generated 的变化，一律视为禁止。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25E26-2523-4967-A1A3-C3BE3969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296466-0C82-4CBA-B9E8-FDA9DBA8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A2D 人机协作流程 / spring-ai-ascend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642D7-8F5F-48F6-A8DB-B3947720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389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4805969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5F645C-B334-48F5-8AB5-C3F2CB6B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DAF22E9A-ED4B-42E5-B760-4EB62E29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1CB91AAB-CFAD-4675-B7AC-5E7F5010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端到端节奏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A1002-9C20-48DD-B405-3269F05A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BE345-D492-4F81-BBD5-FA4907EC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H0 到 H3：人类集中检查，AI 中间批量执行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F6FD4-44A2-46AD-B77F-492AF3C5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四个检查点把“频繁打断”收敛成几个明确裁决窗口。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1B691-CAB5-4A1B-8687-23E8BBB6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6A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E43D1-54E5-48B8-ACE6-B4D854D9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rPr>
              <a:t>H0</a:t>
            </a:r>
          </a:p>
          <a:p xmlns:a="http://schemas.openxmlformats.org/drawingml/2006/main">
            <a:pPr algn="ctr">
              <a:defRPr sz="180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rPr>
              <a:t>注入版本意图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C2226-8E8C-4C38-8734-EC4A6C59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说明要做什么、不能动什么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BEE52-1630-4A36-BCA3-F76AE2CE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0996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A259B-F2A0-4C74-95B1-C6C1C652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22243-2705-433A-8855-3EDFC667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336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4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587AB-5B98-47E2-A7D0-1657500D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H1</a:t>
            </a:r>
          </a:p>
          <a:p xmlns:a="http://schemas.openxmlformats.org/drawingml/2006/main">
            <a:pPr algn="ctr">
              <a:defRPr sz="180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确认架构信封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487D2-6CD3-4116-8C7D-AF4D0F61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43300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确认自动推进范围、法律层和升级条件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B609B-3455-4333-9D16-891DDF82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0996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37D0B-AD52-49E3-95EF-0BA8A713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7F72F-CD04-48B5-879B-2AC7E004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8A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EDC46-BE39-45F6-B752-7DB0F368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rPr>
              <a:t>H2</a:t>
            </a:r>
          </a:p>
          <a:p xmlns:a="http://schemas.openxmlformats.org/drawingml/2006/main">
            <a:pPr algn="ctr">
              <a:defRPr sz="180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rPr>
              <a:t>集中审核架构包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562FD-F36F-454D-90EC-3BDDBBA0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43300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看 4+1 评审视图、交付视图和吸收预算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5003F-0FB1-4B90-9BBE-EE135312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0996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9B606-8BF0-4B5D-948A-DA2D12D4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521D1-731E-40E5-96EB-DADA5DFD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3B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70606-0A49-43D8-BF7C-51302750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rPr>
              <a:t>H3</a:t>
            </a:r>
          </a:p>
          <a:p xmlns:a="http://schemas.openxmlformats.org/drawingml/2006/main">
            <a:pPr algn="ctr">
              <a:defRPr sz="180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rPr>
              <a:t>审核例外和发布风险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AFEC8-C7A7-4C66-A3AF-6A4C69D9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确认漂移、例外、发布风险和基线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2744CF-E60F-46B5-BD4B-7E52E88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2"/>
          </a:solidFill>
          <a:ln xmlns:a="http://schemas.openxmlformats.org/drawingml/2006/main" w="9525">
            <a:solidFill>
              <a:srgbClr val="DDD6CA"/>
            </a:solidFill>
            <a:prstDash val="solid"/>
          </a:ln>
        </p:spPr>
        <p:txBody>
          <a:bodyPr xmlns:a="http://schemas.openxmlformats.org/drawingml/2006/main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AI-1/2 分析影响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40445F-7982-461C-8A7D-E45F531D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14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2"/>
          </a:solidFill>
          <a:ln xmlns:a="http://schemas.openxmlformats.org/drawingml/2006/main" w="9525">
            <a:solidFill>
              <a:srgbClr val="DDD6CA"/>
            </a:solidFill>
            <a:prstDash val="solid"/>
          </a:ln>
        </p:spPr>
        <p:txBody>
          <a:bodyPr xmlns:a="http://schemas.openxmlformats.org/drawingml/2006/main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AI-3 生成信封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9C9CD6-301C-41C9-BC53-2468B8EB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4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2"/>
          </a:solidFill>
          <a:ln xmlns:a="http://schemas.openxmlformats.org/drawingml/2006/main" w="9525">
            <a:solidFill>
              <a:srgbClr val="DDD6CA"/>
            </a:solidFill>
            <a:prstDash val="solid"/>
          </a:ln>
        </p:spPr>
        <p:txBody>
          <a:bodyPr xmlns:a="http://schemas.openxmlformats.org/drawingml/2006/main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AI-4/5/6 生成事实与计划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6EBFB-2382-486E-A2B5-EF0C994B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14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2"/>
          </a:solidFill>
          <a:ln xmlns:a="http://schemas.openxmlformats.org/drawingml/2006/main" w="9525">
            <a:solidFill>
              <a:srgbClr val="DDD6CA"/>
            </a:solidFill>
            <a:prstDash val="solid"/>
          </a:ln>
        </p:spPr>
        <p:txBody>
          <a:bodyPr xmlns:a="http://schemas.openxmlformats.org/drawingml/2006/main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AI-7/8 实现验证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6733CA-270A-41D5-AB18-E60D855B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54EF0F-5DD5-4D8F-8F80-9867BE96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A2D 人机协作流程 / spring-ai-ascend governance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0D5B1F-60F9-4420-947F-DE9B5BD3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389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2883416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6FD64B-09B3-4B44-B858-CCD1A4C6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09B253AA-F8D5-4038-9600-A17DE077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05138839-0335-4522-BDB8-BF44F968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架构信封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33699-F6ED-4BE3-A8D0-BDDE8F3C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684C4-A6A6-409F-AF3B-7FD08D83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架构信封不是完整设计，而是本轮工作合同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7841F-3F2B-41B0-B4B3-D5A57814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它需要足够约束第一批施工，但不要求一次性覆盖所有实现细节。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8DCC4-E9F9-43F3-8E33-724EDF81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071562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57703-16C6-4DC9-B27C-BDFCBBE2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F"/>
          </a:solidFill>
          <a:ln xmlns:a="http://schemas.openxmlformats.org/drawingml/2006/main" w="19050">
            <a:solidFill>
              <a:srgbClr val="2454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22915-97E9-4E0E-836A-2F03E2D9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EF281-2AAD-41CC-B119-F29190F4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1952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允许范围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ECDAB-1A3E-4B27-8F49-C614D4B2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可写模块、路径、契约兼容增量、可生成物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38FE1-B512-41F7-86C6-96A6CD18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9050">
            <a:solidFill>
              <a:srgbClr val="C43B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44BA1-F9B5-4B94-B03B-3171D7DF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7A159-009B-4FB5-A8E7-52129C07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33750"/>
            <a:ext cx="1952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rPr>
              <a:t>禁止范围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DB43A-277D-4102-8747-5E337189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528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不可动模块、状态 owner、破坏性契约、未经确认依赖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0AD6B-1149-43D8-ACA7-E8883E54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A"/>
          </a:solidFill>
          <a:ln xmlns:a="http://schemas.openxmlformats.org/drawingml/2006/main" w="19050">
            <a:solidFill>
              <a:srgbClr val="0F8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9F8D7-0200-45AD-ACCF-0EBC30BE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7BB4E-E67E-4C65-AA60-E3C83538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0"/>
            <a:ext cx="1952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rPr>
              <a:t>第一批入口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8250C-8C38-421D-B39F-5C43F8C6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代码骨架、harness、schema、contract test、probe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97362-1807-4B62-B98E-043E4825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71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19050">
            <a:solidFill>
              <a:srgbClr val="B96A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A87B0-8596-47EE-821C-63FCE334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860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73579-8565-4778-BC86-8E4DC076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1952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rPr>
              <a:t>升级条件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70C65-ED4E-418D-B28E-F6D60ADA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528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越界、兼容破坏、关键失败路径无法覆盖、假设被推翻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CF005B-7E8E-4C61-90B4-177D14D1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95925"/>
            <a:ext cx="923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验收口诀：allowed + forbidden + verification + escalation，缺一项就不是可执行信封。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6FB407-D87D-4E3E-905E-8E8CE6A2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43CA53-7C8A-47BF-A97A-9945B37A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A2D 人机协作流程 / spring-ai-ascend 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D6A83A-1EB4-4ACA-B109-238D187E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389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14715261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7DDD72-F0C1-440C-B42C-AC4C78B8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FBDDD70D-1416-45D6-BF21-B5698E25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4A911025-6116-4CE2-BCF3-F85F90B5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交付视图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FA0D2-F628-4890-B220-592AB8EB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85F63-5FA8-47F8-A3E1-58EBAEE8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交付视图把信封转换成可施工切片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FDC5C-9860-4714-890D-A98E9E77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非 decision-only 阶段，必须推进代码、harness、schema、contract test、probe 或漂移检查。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6DCCC-0FD6-4E81-9CFE-42AAF2FB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CEE57-8C1C-4992-B00F-38358033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阶段类型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8C1B3-16AF-4205-A733-7258C117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95525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decision-only / probe / code-skeleton / implementation / verification / migration / archive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4ED39-3FBD-4B1E-9BE3-0DA5781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313D2-C0DD-46E0-8C7B-77A90198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开发切片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E8497-B227-4476-BE56-E96F11B9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24175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目标、可写路径、代码输出、测试/harness 输出、DoD、禁止事项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35A19-2ABC-4734-8944-8A9D801F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82F80-6C14-4FA4-9748-5EB04141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rPr>
              <a:t>法律层输出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E7218-0A4D-4016-95E4-5BC467D5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52825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guard / contract test / wire-level probe / schema check / drift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57C01-2CC9-4617-8F9D-372546F0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44F8C-26DA-4232-8CE0-639065AA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实现反馈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5A658-DE6C-49D7-9906-1672D7EF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81475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代码或测试发现的新约束，回写到 ICD、schema、L1/L2 或下一阶段计划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B37B6-0687-404F-9FD5-251A2AD0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ADD41-DC19-4BC9-90A1-833F11FF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退出条件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910F5-4AFD-470C-A5DB-04EF410A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10125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可接受结果、不可接受结果、升级条件和验证证据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DA8F3E-4567-4061-A21D-9470A1C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007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rPr>
              <a:t>防退化规则：不能把“继续完善架构稿”作为独立完成态，除非它绑定了具体裁决缺口。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D547B-E61A-4ACB-9122-536B7F96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3A3EC7-0FE6-45BC-83CF-08BFB1D8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A2D 人机协作流程 / spring-ai-ascend governance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B96FC3-ADBD-4101-8188-B37F001E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389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3724132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067EB3-57AC-4F6C-968A-CDBE775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6DCE157D-9FAD-4AD9-BB44-31C8EA07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ADBB5119-3682-430E-B328-0DBD2D31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法律层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9DF73-2F46-40AC-9AB1-B58D686E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C378E-78F6-48CD-AFC8-2B216D5E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法律层把架构规则变成自动检查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91909-50D6-4789-B905-20CD3C04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守护测试必须自证非空，防止“什么都没检查也绿”。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F5442-166A-47A6-A6C7-F7B5FFB8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95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9050">
            <a:solidFill>
              <a:srgbClr val="2454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B8088-8762-4FFE-AFBF-625D4551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边界检查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E74F1-1DC0-4664-BA76-61487325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ArchUnit / rg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C50F0-4168-4DCA-8D4C-F30ECF47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9082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依赖方向、包边界、禁止 import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94FF9-CFA1-45EC-BDEA-6E7BBE11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495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5"/>
          </a:solidFill>
          <a:ln xmlns:a="http://schemas.openxmlformats.org/drawingml/2006/main" w="19050">
            <a:solidFill>
              <a:srgbClr val="C43B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C6BFE-B7EF-4437-A0DD-B6E58ABD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765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rPr>
              <a:t>契约检查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A2D0C-6475-45DA-B75D-51C511A0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574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contract test / schema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7CD1E-8B93-4470-B272-889E5899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9082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字段兼容、error code、timeout/retry 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B6FE4-C0F2-48FA-94FD-504C153E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495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BF7"/>
          </a:solidFill>
          <a:ln xmlns:a="http://schemas.openxmlformats.org/drawingml/2006/main" w="19050">
            <a:solidFill>
              <a:srgbClr val="0F8A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7051E-D070-4463-B8FB-6243274D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rPr>
              <a:t>交互检查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576D7-99A9-44EA-BBBF-6CD78626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862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wire-level probe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4E8547-351C-4607-B620-821C133A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1957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跨 service 调用、tenant 传递、失败路径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CF3BC-8815-49EA-AD28-1049C1F3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95700"/>
            <a:ext cx="495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9050">
            <a:solidFill>
              <a:srgbClr val="B96A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EA336-9B32-425E-BEB7-8AE19B6C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052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rPr>
              <a:t>漂移检查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2E0E3-AD58-4190-8CD2-4AEEA190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graphify / code scan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DDD533-3448-4432-96FC-F00CDFEB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1957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实现结构是否偏离信封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AFDE5-FDA1-4B66-84D0-5416713E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362575"/>
            <a:ext cx="459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9525">
            <a:solidFill>
              <a:srgbClr val="C43B3B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rPr>
              <a:t>liveness / negative case 是硬要求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9920A6-A8DD-4B33-9391-40B5B1E9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7E601-AC2C-465E-901E-98592297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A2D 人机协作流程 / spring-ai-ascend governance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15D22C-C5CA-493B-8BED-D79E5E39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389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11160547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C384C4-0ACD-45A8-B94A-6D800370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594BE604-AE45-49EE-A550-D193085D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BAE848EB-19BA-47D7-945C-376740CD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回灌闭环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2E391-9929-4619-A6F0-657C4710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013B0-47AD-47E9-9DC6-7C711BFF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代码不是文档之后的执行品，也是发现架构事实的探针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B1A3E-4811-4C51-8C76-3F26397C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实现暴露的新约束要结构化回写，而不是口头解释或继续堆文档。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C9FC4-CBCB-4BCF-AC79-13DB8DA3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F"/>
          </a:solidFill>
          <a:ln xmlns:a="http://schemas.openxmlformats.org/drawingml/2006/main" w="19050">
            <a:solidFill>
              <a:srgbClr val="2454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AD090-13E6-40C0-A897-CF0057D6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架构信封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C13A7-0FFD-4ED2-A97D-5D87B7BE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14725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约束边界</a:t>
            </a:r>
          </a:p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升级条件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CBB29-6999-40F6-A544-1D05A7EA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A"/>
          </a:solidFill>
          <a:ln xmlns:a="http://schemas.openxmlformats.org/drawingml/2006/main" w="19050">
            <a:solidFill>
              <a:srgbClr val="0F8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14FBE-495B-4899-827A-3FB9EBCB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336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rPr>
              <a:t>代码 / harness / probe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BD745-59B2-4680-9993-F14C070B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24175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最小实证</a:t>
            </a:r>
          </a:p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失败路径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1E862-329C-49DA-8674-A003E2DE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337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19050">
            <a:solidFill>
              <a:srgbClr val="C43B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D85F6-C650-477B-8145-1D4F8D24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rPr>
              <a:t>验证与漂移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1B1EF-5A60-443E-A6AE-64B891D3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14725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guard 结果</a:t>
            </a:r>
          </a:p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契约差异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4330B-52BA-43C3-BB2E-4D7AA438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19050">
            <a:solidFill>
              <a:srgbClr val="B96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EAB8E-2EE9-41D1-8A8D-F35EB3AA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rPr>
              <a:t>实现反馈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E069A-78FC-4EAE-AEAB-0B682EA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24175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回写 ICD / schema</a:t>
            </a:r>
          </a:p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L1/L2 / 下一阶段计划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E806A-C1DB-44AE-86D9-259EFD4C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09963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A3EAF-A7F8-411C-90F6-FB6AE792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8194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4A3EB-9557-4995-8A79-26B1D7C9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95613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4021C-493F-4B2D-A65E-428D74D1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70C3F-3EF5-4363-843B-9621C574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013" y="300990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2B7601-09CE-4BCC-B859-BFD10A48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194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rPr>
              <a:t>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66266-AC61-4967-AF70-C803F213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81463"/>
            <a:ext cx="792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07ABE0-6154-4DF8-8EA8-4736F1F5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052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D7D2C8"/>
                </a:solidFill>
                <a:latin typeface="Microsoft YaHei UI"/>
                <a:ea typeface="Microsoft YaHei UI"/>
                <a:cs typeface="Microsoft YaHei UI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B28EA-5EDB-42E3-83F6-9FF00272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340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回灌只允许修正已暴露的新事实，不能借回灌绕过 H1/H2 禁止范围。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43E7ED-0EAD-4B28-BD24-2ACD3CDF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84A984-EE6F-4318-B900-276DF95F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A2D 人机协作流程 / spring-ai-ascend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3F1086-98C3-4582-9446-0D1B6E73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389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8131127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AB594E-36E0-4754-B61B-03DA6F72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AF73980B-4E80-4CB2-B093-FE053E50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FB97AD25-DF44-4B23-90D0-90D428A1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人类吸收预算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1192A-E29F-4DA9-A510-A0ED11A9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E9697-D6B8-4A62-B045-9CAB1B37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高风险切片必须被“定价”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75569-E450-4F48-A43D-81E43ACE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流程不是让 AI 无限并行，而是控制人类理解、复审和裁决的吞吐。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D02B4-E6CD-4CC8-8EB4-465EEA0D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9050">
            <a:solidFill>
              <a:srgbClr val="2454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AB508-BA9A-4E3C-8AD7-B2756428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风险等级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18E7A-0F7F-41CE-9DBE-B72A6AB2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28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88115-0020-434A-AA33-B87419E2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2352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L1：局部实现风险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A32A0-1311-47CD-8EFC-96DED483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1D140-3578-49CC-A7A0-20F75BE1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90925"/>
            <a:ext cx="2352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L2：契约或跨模块风险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75496-37F7-4981-A2D5-DC5E969D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24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CBB09-5FDA-4ECD-9E8F-C405B4E3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2352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L3：状态、发布或安全风险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A7027-87D2-4CFB-AB95-5173029B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BF7"/>
          </a:solidFill>
          <a:ln xmlns:a="http://schemas.openxmlformats.org/drawingml/2006/main" w="19050">
            <a:solidFill>
              <a:srgbClr val="0F8A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722DD-6B56-43C1-B116-BFF3BAD1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rPr>
              <a:t>理解深度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075DC-7ADD-43F7-BBC5-21D08406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A0D4A-3ADF-471F-A32F-B0F79EB6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43250"/>
            <a:ext cx="2352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behavior-commitment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4CE64-F712-42F2-ABD0-242CBD4F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76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58F79-2DE6-47D3-B36E-19348A4F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90925"/>
            <a:ext cx="2352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contract-level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3C22C-0F3F-4B4D-8BAC-FDA058C7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24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88E8C-EEC8-4665-949D-164AEB20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2352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implementation-level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E9CF0-BFEA-4793-80CC-62C97B7F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9050">
            <a:solidFill>
              <a:srgbClr val="B96A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5AB7F6-21B9-42BD-97D0-A4EEEAF6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B96A00"/>
                </a:solidFill>
                <a:latin typeface="Microsoft YaHei UI"/>
                <a:ea typeface="Microsoft YaHei UI"/>
                <a:cs typeface="Microsoft YaHei UI"/>
              </a:rPr>
              <a:t>吸收预算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5FF6A-244C-423A-8D5D-AA3A50C6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28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C6DEC2-ECFD-4B64-AD54-D5A531DF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352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主 owner + 备 reviewer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EA6DDC-88EF-4111-A0BC-EDBCFDB3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85DF84-41BA-4AA2-A415-E35B00C8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90925"/>
            <a:ext cx="2352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最大并行切片数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B03E39-ADFA-4663-B02B-332A827C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24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B143A-E731-4581-B766-94572D14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38600"/>
            <a:ext cx="2352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review 积压或验证断裂即停止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BCC35C-6B83-4795-A797-F6749385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0225"/>
            <a:ext cx="979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72033"/>
                </a:solidFill>
                <a:latin typeface="Microsoft YaHei UI"/>
                <a:ea typeface="Microsoft YaHei UI"/>
                <a:cs typeface="Microsoft YaHei UI"/>
              </a:rPr>
              <a:t>核心提醒：AI 产能上升后，人类吸收和判断能力会成为系统约束。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CCF58C-8898-4574-897D-87C6CB69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B2B894-E804-4F43-A6B1-F3469EF6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A2D 人机协作流程 / spring-ai-ascend governance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1F6448-0645-4FAE-8042-0F32152E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389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84"/>
                </a:solidFill>
                <a:latin typeface="Microsoft YaHei UI"/>
                <a:ea typeface="Microsoft YaHei UI"/>
                <a:cs typeface="Microsoft YaHei UI"/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22697958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F1B5E-6F67-46A1-9789-643A0C6F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C5DEE1BD-DD63-4B8A-BF76-1A2A088C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F32A1AF5-B84D-430A-A047-00134E27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D6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C9D6FF"/>
                </a:solidFill>
                <a:latin typeface="Microsoft YaHei UI"/>
                <a:ea typeface="Microsoft YaHei UI"/>
                <a:cs typeface="Microsoft YaHei UI"/>
              </a:rPr>
              <a:t>落地规则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11D79-E3A6-4809-9006-AA26ECF5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2C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AAB2C2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E850E-D815-4EC3-A6A7-623C0213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每轮启动前，先问三个问题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2CD80-C9EB-4919-B869-EF2185D5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A7A3F-D138-47CA-B45B-63F6D267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454D6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E836C-762A-4F3C-95D0-0BA7A8CE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669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信封是否可执行？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39F5B-3CB9-4D45-8CA9-2EB25C1E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47950"/>
            <a:ext cx="752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C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D6DCEB"/>
                </a:solidFill>
                <a:latin typeface="Microsoft YaHei UI"/>
                <a:ea typeface="Microsoft YaHei UI"/>
                <a:cs typeface="Microsoft YaHei UI"/>
              </a:rPr>
              <a:t>是否同时写清 allowed、forbidden、verification、escalation？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DFAF2-061A-4C01-B2A0-FCABB60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38488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C6FB6-3A23-4080-BB0E-67D3B501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567C1-B8BE-41FB-9A64-BA717871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C43B3B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935CD-0EDE-4ECD-A288-782D45DE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9090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法律层是否兜底？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DD7C8-8AEE-497A-9979-52F59055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71900"/>
            <a:ext cx="752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C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D6DCEB"/>
                </a:solidFill>
                <a:latin typeface="Microsoft YaHei UI"/>
                <a:ea typeface="Microsoft YaHei UI"/>
                <a:cs typeface="Microsoft YaHei UI"/>
              </a:rPr>
              <a:t>关键边界是否有 guard / contract test / probe / drift check，且自证非空？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23B16-E9BF-4C06-9391-B2CCDB2E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2438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629E1-2284-442F-83AC-E099A144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9F8DC-23FE-4ED0-A753-6922B78F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0F8A5F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FEBB0-FBAE-49AE-8A7A-A3891A1C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148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交付是否推进实证？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943EE-D5CF-4EBF-8584-A726884A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95850"/>
            <a:ext cx="752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C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D6DCEB"/>
                </a:solidFill>
                <a:latin typeface="Microsoft YaHei UI"/>
                <a:ea typeface="Microsoft YaHei UI"/>
                <a:cs typeface="Microsoft YaHei UI"/>
              </a:rPr>
              <a:t>非裁决阶段是否有代码、harness、schema、contract test、probe 或漂移检查？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1A01BD-2CA9-4B4F-BAA3-1FF11E9F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86388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1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2EB4E4-B987-4CB5-9B4C-C5CCD879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0"/>
            <a:ext cx="969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EC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8ECF7"/>
                </a:solidFill>
                <a:latin typeface="Microsoft YaHei UI"/>
                <a:ea typeface="Microsoft YaHei UI"/>
                <a:cs typeface="Microsoft YaHei UI"/>
              </a:rPr>
              <a:t>结论：架构文档负责让人类看懂和裁决；代码、harness 与法律层负责让 AI 不能越界。</a:t>
            </a:r>
          </a:p>
        </p:txBody>
      </p:sp>
    </p:spTree>
    <p:extLst>
      <p:ext uri="{BB962C8B-B14F-4D97-AF65-F5344CB8AC3E}">
        <p14:creationId xmlns:p14="http://schemas.microsoft.com/office/powerpoint/2010/main" val="1587404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2026-06-15T04:46:08.0560000Z</dcterms:created>
  <dcterms:modified xsi:type="dcterms:W3CDTF">2026-06-15T04:46:08.0560000Z</dcterms:modified>
</coreProperties>
</file>